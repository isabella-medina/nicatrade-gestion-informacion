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boto Bold" charset="1" panose="02000000000000000000"/>
      <p:regular r:id="rId10"/>
    </p:embeddedFont>
    <p:embeddedFont>
      <p:font typeface="Noto Sans" charset="1" panose="020B0502040504020204"/>
      <p:regular r:id="rId11"/>
    </p:embeddedFont>
    <p:embeddedFont>
      <p:font typeface="Noto Sans Bold" charset="1" panose="020B0802040504020204"/>
      <p:regular r:id="rId12"/>
    </p:embeddedFont>
    <p:embeddedFont>
      <p:font typeface="Roboto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7435" y="439476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142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1418" y="162135"/>
            <a:ext cx="7679588" cy="197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2"/>
              </a:lnSpc>
            </a:pPr>
            <a:r>
              <a:rPr lang="en-US" b="true" sz="1150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Nica Trade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0957" y="2879969"/>
            <a:ext cx="149723" cy="78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4638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7699" y="2762069"/>
            <a:ext cx="750780" cy="9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sz="4638">
                <a:solidFill>
                  <a:srgbClr val="FF820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b="true" sz="4638">
                <a:solidFill>
                  <a:srgbClr val="FF82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51006" y="219027"/>
            <a:ext cx="8794466" cy="186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8"/>
              </a:lnSpc>
            </a:pPr>
            <a:r>
              <a:rPr lang="en-US" b="true" sz="10891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International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9706" y="2879969"/>
            <a:ext cx="1969970" cy="78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4638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México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418" y="8054521"/>
            <a:ext cx="2625042" cy="78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4638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Maestro: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418" y="5852093"/>
            <a:ext cx="3438134" cy="78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4638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Integrantes: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3715" y="2879969"/>
            <a:ext cx="2762669" cy="78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4638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Nicaragua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6460" y="8364007"/>
            <a:ext cx="3910038" cy="4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José Durán Gracia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09552" y="6061337"/>
            <a:ext cx="5620054" cy="141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Amy Angeline Palacios Martínez</a:t>
            </a:r>
          </a:p>
          <a:p>
            <a:pPr algn="l">
              <a:lnSpc>
                <a:spcPts val="3788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Isabella Baniska Medina Sandoval • Brittany Mercedes Pérez Urbina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4772" y="9191825"/>
            <a:ext cx="4076052" cy="47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22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6656" y="488585"/>
            <a:ext cx="8647751" cy="117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6"/>
              </a:lnSpc>
            </a:pPr>
            <a:r>
              <a:rPr lang="en-US" b="true" sz="677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Empresa y operación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9933" y="2135857"/>
            <a:ext cx="76448" cy="41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656" y="2135857"/>
            <a:ext cx="7476533" cy="41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NicaTrade International es una empresa nicaragüense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656" y="2590205"/>
            <a:ext cx="6936321" cy="359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1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dedicada a la importación y comercialización de productos alimenticios y de consumo masivo en Centroamérica.</a:t>
            </a:r>
          </a:p>
          <a:p>
            <a:pPr algn="l">
              <a:lnSpc>
                <a:spcPts val="2880"/>
              </a:lnSpc>
              <a:spcBef>
                <a:spcPts val="2856"/>
              </a:spcBef>
            </a:pPr>
            <a:r>
              <a:rPr lang="en-US" b="true" sz="2416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Operación: </a:t>
            </a:r>
            <a:r>
              <a:rPr lang="en-US" sz="241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importación comercial marítima/terrestre de un consolidado de mercancías desde México hacia Nicaragua.</a:t>
            </a:r>
          </a:p>
          <a:p>
            <a:pPr algn="l">
              <a:lnSpc>
                <a:spcPts val="2880"/>
              </a:lnSpc>
              <a:spcBef>
                <a:spcPts val="2856"/>
              </a:spcBef>
            </a:pPr>
          </a:p>
          <a:p>
            <a:pPr algn="l">
              <a:lnSpc>
                <a:spcPts val="2848"/>
              </a:lnSpc>
            </a:pPr>
            <a:r>
              <a:rPr lang="en-US" b="true" sz="2389">
                <a:solidFill>
                  <a:srgbClr val="FF8200"/>
                </a:solidFill>
                <a:latin typeface="Roboto Bold"/>
                <a:ea typeface="Roboto Bold"/>
                <a:cs typeface="Roboto Bold"/>
                <a:sym typeface="Roboto Bold"/>
              </a:rPr>
              <a:t>Categorías de productos importados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3939" y="5772198"/>
            <a:ext cx="73743" cy="40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656" y="6225713"/>
            <a:ext cx="6266136" cy="378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203" indent="-248101" lvl="1">
              <a:lnSpc>
                <a:spcPts val="2755"/>
              </a:lnSpc>
              <a:buFont typeface="Arial"/>
              <a:buChar char="•"/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Alimentos y Bebidas: galletas, café, atún, aceites, harinas, jugos y agua</a:t>
            </a:r>
          </a:p>
          <a:p>
            <a:pPr algn="l" marL="496203" indent="-248101" lvl="1">
              <a:lnSpc>
                <a:spcPts val="2755"/>
              </a:lnSpc>
              <a:buFont typeface="Arial"/>
              <a:buChar char="•"/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Limpieza e Higiene: detergentes, limpiadores, jabones y suavizante</a:t>
            </a:r>
          </a:p>
          <a:p>
            <a:pPr algn="l" marL="496203" indent="-248101" lvl="1">
              <a:lnSpc>
                <a:spcPts val="2755"/>
              </a:lnSpc>
              <a:buFont typeface="Arial"/>
              <a:buChar char="•"/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Artículos para el Hogar: papel higiénico, servilletas, bolsas y recipientes</a:t>
            </a:r>
          </a:p>
          <a:p>
            <a:pPr algn="l" marL="496203" indent="-248101" lvl="1">
              <a:lnSpc>
                <a:spcPts val="2755"/>
              </a:lnSpc>
              <a:buFont typeface="Arial"/>
              <a:buChar char="•"/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Suministros de Oficina y Tecnología: cuadernos, carpetas, memorias USB, teclados y audífonos</a:t>
            </a:r>
          </a:p>
          <a:p>
            <a:pPr algn="l" marL="496203" indent="-248101" lvl="1">
              <a:lnSpc>
                <a:spcPts val="2755"/>
              </a:lnSpc>
              <a:buFont typeface="Arial"/>
              <a:buChar char="•"/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Accesorios: mochilas, bolsos deportivos, termos y botellas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068283" y="2975600"/>
            <a:ext cx="1456830" cy="175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b="true" sz="501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11</a:t>
            </a:r>
          </a:p>
          <a:p>
            <a:pPr algn="ctr">
              <a:lnSpc>
                <a:spcPts val="2841"/>
              </a:lnSpc>
            </a:pPr>
            <a:r>
              <a:rPr lang="en-US" sz="19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Importe Alto (&gt;1,000 USD)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87226" y="5336470"/>
            <a:ext cx="2653808" cy="128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7"/>
              </a:lnSpc>
            </a:pPr>
            <a:r>
              <a:rPr lang="en-US" b="true" sz="233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Clasificación de productos por importe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62128" y="7317829"/>
            <a:ext cx="1650197" cy="166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6"/>
              </a:lnSpc>
            </a:pPr>
            <a:r>
              <a:rPr lang="en-US" b="true" sz="53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39</a:t>
            </a:r>
          </a:p>
          <a:p>
            <a:pPr algn="ctr">
              <a:lnSpc>
                <a:spcPts val="2668"/>
              </a:lnSpc>
            </a:pPr>
            <a:r>
              <a:rPr lang="en-US" sz="18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Importe Normal (&lt;1,000 USD)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528209"/>
            <a:ext cx="6042822" cy="137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6"/>
              </a:lnSpc>
            </a:pPr>
            <a:r>
              <a:rPr lang="en-US" b="true" sz="80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Resultados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7672692"/>
            <a:ext cx="3239348" cy="114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b="true" sz="4077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50</a:t>
            </a:r>
          </a:p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Cantidad total de productos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5995911"/>
            <a:ext cx="2210552" cy="71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b="true" sz="4077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7.74 USD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1775" y="6739566"/>
            <a:ext cx="64903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2490711"/>
            <a:ext cx="3552111" cy="127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b="true" sz="4077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40,359.00 USD</a:t>
            </a:r>
          </a:p>
          <a:p>
            <a:pPr algn="l">
              <a:lnSpc>
                <a:spcPts val="3683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Importe total global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4319130"/>
            <a:ext cx="3552111" cy="71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b="true" sz="4077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36,919.50 USD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8067" y="5061814"/>
            <a:ext cx="62141" cy="35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19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6739566"/>
            <a:ext cx="3488598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Precio promedio por producto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6480" y="5124507"/>
            <a:ext cx="611286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26480" y="8107737"/>
            <a:ext cx="1599448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Precio unidad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26480" y="2820219"/>
            <a:ext cx="3369926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b="true" sz="2022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Producto con mayor importe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6480" y="3591744"/>
            <a:ext cx="3226803" cy="3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Mochilas (código MEX-043)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" y="5061814"/>
            <a:ext cx="4561880" cy="35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19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Importe de productos de origen mexicano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6480" y="7558859"/>
            <a:ext cx="1886760" cy="53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b="true" sz="3060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22.50 USD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480" y="6077531"/>
            <a:ext cx="2180882" cy="90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b="true" sz="3060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85 unidades</a:t>
            </a:r>
          </a:p>
          <a:p>
            <a:pPr algn="l">
              <a:lnSpc>
                <a:spcPts val="2771"/>
              </a:lnSpc>
            </a:pPr>
            <a:r>
              <a:rPr lang="en-US" sz="19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Cantidad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26480" y="4575629"/>
            <a:ext cx="2438638" cy="53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b="true" sz="3060">
                <a:solidFill>
                  <a:srgbClr val="E47A20"/>
                </a:solidFill>
                <a:latin typeface="Roboto Bold"/>
                <a:ea typeface="Roboto Bold"/>
                <a:cs typeface="Roboto Bold"/>
                <a:sym typeface="Roboto Bold"/>
              </a:rPr>
              <a:t>1,912.50 USD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6656" y="300457"/>
            <a:ext cx="7350040" cy="153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7"/>
              </a:lnSpc>
            </a:pPr>
            <a:r>
              <a:rPr lang="en-US" b="true" sz="891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594" y="2484625"/>
            <a:ext cx="81886" cy="44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656" y="8509997"/>
            <a:ext cx="6104353" cy="11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Previene duplicidad y pérdida de información, y garantiza </a:t>
            </a:r>
            <a:r>
              <a:rPr lang="en-US" b="true" sz="2552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trazabilidad</a:t>
            </a: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para cumplimiento normativo y aduanero.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656" y="2484625"/>
            <a:ext cx="6272794" cy="43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 análisis cuantitativo permite calcular 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656" y="2914869"/>
            <a:ext cx="6272794" cy="115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b="true" sz="2552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liquidez necesaria</a:t>
            </a: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para mercancías, impuestos y aranceles, facilitando el control del capital de trabajo.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656" y="4506354"/>
            <a:ext cx="5993759" cy="192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segmentación identifica productos de mayor </a:t>
            </a:r>
            <a:r>
              <a:rPr lang="en-US" b="true" sz="2552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impacto económico,</a:t>
            </a:r>
            <a:r>
              <a:rPr lang="en-US" sz="25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apoyando la gestión estratégica del inventario con énfasis en seguridad, almacenamiento y comercialización.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656" y="6896224"/>
            <a:ext cx="6745843" cy="112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4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gestión documental digital centraliza y estandariza expedientes, mejora la colaboración entre compras, ventas y logística.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DAHVxoxd6c8</dc:identifier>
  <dcterms:modified xsi:type="dcterms:W3CDTF">2011-08-01T06:04:30Z</dcterms:modified>
  <cp:revision>1</cp:revision>
  <dc:title>Resultados_Importación_México</dc:title>
</cp:coreProperties>
</file>